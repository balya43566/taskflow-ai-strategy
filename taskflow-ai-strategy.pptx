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01000" y="0"/>
            <a:ext cx="36576" cy="68580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438912"/>
            <a:ext cx="1920240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457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CONFIDENTIAL  ·  EXEC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7315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TaskFlow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8308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7BB3F0"/>
                </a:solidFill>
                <a:latin typeface="Calibri"/>
              </a:rPr>
              <a:t>AI Competitive
Response Strategy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200400"/>
            <a:ext cx="4114800" cy="36576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333756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4A3B8"/>
                </a:solidFill>
                <a:latin typeface="Calibri"/>
              </a:rPr>
              <a:t>Market landscape  ·  Threat assessment  ·  Recommended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794760"/>
            <a:ext cx="7406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Calibri"/>
              </a:rPr>
              <a:t>Prepared for Sarah Chen, CEO  ·  March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411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4A3B8"/>
                </a:solidFill>
                <a:latin typeface="Calibri"/>
              </a:rPr>
              <a:t>COMPETITOR THREAT LEVELS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21040" y="868680"/>
            <a:ext cx="3520440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1033271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VERY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435607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ClickUp Brain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2606039"/>
            <a:ext cx="3520440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8200" y="277063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317296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Asana · Notion · Monday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4343400"/>
            <a:ext cx="3520440" cy="1554480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45079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49103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Calibri"/>
              </a:rPr>
              <a:t>Linear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B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508760"/>
            <a:ext cx="1920240" cy="19202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42816" y="1856231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242816" y="1856231"/>
            <a:ext cx="256032" cy="256032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88536" y="1984248"/>
            <a:ext cx="54864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15968" y="1929384"/>
            <a:ext cx="12801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608576" y="1929384"/>
            <a:ext cx="126187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42816" y="2377439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08576" y="2450591"/>
            <a:ext cx="1261872" cy="1097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42816" y="2898648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08576" y="2971800"/>
            <a:ext cx="822960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77840" y="3044952"/>
            <a:ext cx="384048" cy="384048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10128" y="3721608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5200" b="1" i="0">
                <a:solidFill>
                  <a:srgbClr val="0D1B2A"/>
                </a:solidFill>
                <a:latin typeface="Calibri"/>
              </a:rPr>
              <a:t>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3721608"/>
            <a:ext cx="2926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2D6ACF"/>
                </a:solidFill>
                <a:latin typeface="Calibri"/>
              </a:rPr>
              <a:t>Flow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56048" y="4562856"/>
            <a:ext cx="2286000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81728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Calibri"/>
              </a:rPr>
              <a:t>Work that flows.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693408"/>
            <a:ext cx="1218895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AI Competitive Response Strategy  ·  March 2025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6ACF"/>
                </a:solidFill>
                <a:latin typeface="Calibri"/>
              </a:rPr>
              <a:t>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Executive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3657600" cy="1920240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261872"/>
            <a:ext cx="54864" cy="192024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D6ACF"/>
                </a:solidFill>
                <a:latin typeface="Calibri"/>
              </a:rPr>
              <a:t>5 of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176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E"/>
                </a:solidFill>
                <a:latin typeface="Calibri"/>
              </a:rPr>
              <a:t>competitors have
some form of AI chat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87952" y="1261872"/>
            <a:ext cx="3657600" cy="1920240"/>
          </a:xfrm>
          <a:prstGeom prst="rect">
            <a:avLst/>
          </a:prstGeom>
          <a:solidFill>
            <a:srgbClr val="FFEDED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1261872"/>
            <a:ext cx="54864" cy="1920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DC2626"/>
                </a:solidFill>
                <a:latin typeface="Calibri"/>
              </a:rPr>
              <a:t>30–90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9392" y="2176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E"/>
                </a:solidFill>
                <a:latin typeface="Calibri"/>
              </a:rPr>
              <a:t>days until AI-driven
churn risk peaks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19871" y="1261872"/>
            <a:ext cx="3657600" cy="1920240"/>
          </a:xfrm>
          <a:prstGeom prst="rect">
            <a:avLst/>
          </a:prstGeom>
          <a:solidFill>
            <a:srgbClr val="FFF3D6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19871" y="1261872"/>
            <a:ext cx="54864" cy="1920240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37160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06B00"/>
                </a:solidFill>
                <a:latin typeface="Calibri"/>
              </a:rPr>
              <a:t>$200–280/mo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1" y="2176272"/>
            <a:ext cx="3474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56E"/>
                </a:solidFill>
                <a:latin typeface="Calibri"/>
              </a:rPr>
              <a:t>what competitors charge
a 10-person 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" y="33832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6ACF"/>
                </a:solidFill>
                <a:latin typeface="Calibri"/>
              </a:rPr>
              <a:t>Key Takeaways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6032" y="370332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6032" y="3950208"/>
            <a:ext cx="201168" cy="201168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9136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AI is now a purchase criterion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06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Buyers ask 'what AI?' before 'what price?' — this shift happened in 2024.</a:t>
            </a:r>
          </a:p>
        </p:txBody>
      </p:sp>
      <p:sp>
        <p:nvSpPr>
          <p:cNvPr id="27" name="Oval 26"/>
          <p:cNvSpPr/>
          <p:nvPr/>
        </p:nvSpPr>
        <p:spPr>
          <a:xfrm>
            <a:off x="6199632" y="3950208"/>
            <a:ext cx="201168" cy="201168"/>
          </a:xfrm>
          <a:prstGeom prst="ellipse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528" y="391363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The window is not closed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8" y="420624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Churn happens at renewal. TaskFlow has 30–90 days to communicate a credible AI roadmap.</a:t>
            </a:r>
          </a:p>
        </p:txBody>
      </p:sp>
      <p:sp>
        <p:nvSpPr>
          <p:cNvPr id="30" name="Oval 29"/>
          <p:cNvSpPr/>
          <p:nvPr/>
        </p:nvSpPr>
        <p:spPr>
          <a:xfrm>
            <a:off x="256032" y="5248656"/>
            <a:ext cx="201168" cy="201168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ClickUp Brain is threat #1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5046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Most mature 'chat with your work' product. Direct overlap with TaskFlow's core use case.</a:t>
            </a:r>
          </a:p>
        </p:txBody>
      </p:sp>
      <p:sp>
        <p:nvSpPr>
          <p:cNvPr id="33" name="Oval 32"/>
          <p:cNvSpPr/>
          <p:nvPr/>
        </p:nvSpPr>
        <p:spPr>
          <a:xfrm>
            <a:off x="6199632" y="5248656"/>
            <a:ext cx="201168" cy="201168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521208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A pricing wedge exists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0528" y="5504688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Every competitor charges $15–28/user extra for AI. TaskFlow can undercut on price.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6ACF"/>
                </a:solidFill>
                <a:latin typeface="Calibri"/>
              </a:rPr>
              <a:t>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The AI Feature Race — Where Every Competitor Stands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98448"/>
            <a:ext cx="11704320" cy="1554480"/>
          </a:xfrm>
          <a:prstGeom prst="rect">
            <a:avLst/>
          </a:prstGeom>
          <a:solidFill>
            <a:srgbClr val="FFEDED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298448"/>
            <a:ext cx="73152" cy="1554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" y="1499616"/>
            <a:ext cx="2834640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51790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TIER 1  —  FULL AI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148132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ClickUp Brain  ·  Notion AI +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01168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E"/>
                </a:solidFill>
                <a:latin typeface="Calibri"/>
              </a:rPr>
              <a:t>Cross-workspace knowledge indexing · Conversational AI chat · Autonomous agents · Meeting intelligence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990088"/>
            <a:ext cx="11704320" cy="1554480"/>
          </a:xfrm>
          <a:prstGeom prst="rect">
            <a:avLst/>
          </a:prstGeom>
          <a:solidFill>
            <a:srgbClr val="FFF3D6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990088"/>
            <a:ext cx="73152" cy="1554480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" y="3191256"/>
            <a:ext cx="2834640" cy="329184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20954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TIER 2  —  STRONG / ENTERPRISE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1568" y="317296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Asana AI Teammates  ·  Monday.com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" y="3703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E"/>
                </a:solidFill>
                <a:latin typeface="Calibri"/>
              </a:rPr>
              <a:t>Enterprise-grade automations · M365 Copilot integration · Conversational onboarding agents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4681728"/>
            <a:ext cx="11704320" cy="1554480"/>
          </a:xfrm>
          <a:prstGeom prst="rect">
            <a:avLst/>
          </a:prstGeom>
          <a:solidFill>
            <a:srgbClr val="D6F5EB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4681728"/>
            <a:ext cx="73152" cy="155448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" y="4882896"/>
            <a:ext cx="2834640" cy="329184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011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TIER 3  —  NICHE / DEVELOPER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486460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B2A"/>
                </a:solidFill>
                <a:latin typeface="Calibri"/>
              </a:rPr>
              <a:t>Linear + GitHub Copilot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6" y="539496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E"/>
                </a:solidFill>
                <a:latin typeface="Calibri"/>
              </a:rPr>
              <a:t>Best-in-class for engineering teams only · No general-purpose AI chat for business users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6ACF"/>
                </a:solidFill>
                <a:latin typeface="Calibri"/>
              </a:rPr>
              <a:t>COMPETITIVE LANDSCAPE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AI Feature Comparison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117043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" y="1298448"/>
            <a:ext cx="3429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22191" y="129844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Asana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6672" y="129844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Linear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129844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Monday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85632" y="129844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ClickUp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40112" y="1298448"/>
            <a:ext cx="1417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1737360"/>
            <a:ext cx="117043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6032" y="1737360"/>
            <a:ext cx="117043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3192" y="1892807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Chat with tasks/work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05072" y="1901952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6783" y="1911095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59552" y="1901952"/>
            <a:ext cx="106984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41264" y="1911095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14032" y="1901952"/>
            <a:ext cx="1069848" cy="329184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95744" y="1911095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6B00"/>
                </a:solidFill>
                <a:latin typeface="Calibri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68511" y="1901952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50224" y="1911095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22992" y="1901952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04704" y="1911095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404872"/>
            <a:ext cx="11704320" cy="667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2404872"/>
            <a:ext cx="11704320" cy="667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3192" y="2560320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AI automations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05072" y="2569464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86783" y="2578608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59552" y="2569464"/>
            <a:ext cx="106984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41264" y="2578608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14032" y="2569464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95744" y="2578608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68511" y="2569464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0224" y="2578608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222992" y="2569464"/>
            <a:ext cx="1069848" cy="329184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04704" y="2578608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6B00"/>
                </a:solidFill>
                <a:latin typeface="Calibri"/>
              </a:rPr>
              <a:t>Partial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56032" y="3072384"/>
            <a:ext cx="117043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56032" y="3072384"/>
            <a:ext cx="117043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93192" y="322783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Autonomous AI agents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05072" y="3236976"/>
            <a:ext cx="1069848" cy="329184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986783" y="3246120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6B00"/>
                </a:solidFill>
                <a:latin typeface="Calibri"/>
              </a:rPr>
              <a:t>Yes β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59552" y="3236976"/>
            <a:ext cx="1069848" cy="329184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41264" y="3246120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6B00"/>
                </a:solidFill>
                <a:latin typeface="Calibri"/>
              </a:rPr>
              <a:t>Partial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14032" y="3236976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95744" y="3246120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68511" y="3236976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50224" y="3246120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222992" y="3236976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204704" y="3246120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6032" y="3739896"/>
            <a:ext cx="11704320" cy="667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56032" y="3739896"/>
            <a:ext cx="11704320" cy="667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3192" y="3895344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Meeting intelligence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05072" y="3904487"/>
            <a:ext cx="106984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86783" y="3913632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No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9552" y="3904487"/>
            <a:ext cx="106984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41264" y="3913632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14032" y="3904487"/>
            <a:ext cx="106984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095744" y="3913632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68511" y="3904487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50224" y="3913632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22992" y="3904487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204704" y="3913632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6032" y="4407408"/>
            <a:ext cx="117043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256032" y="4407408"/>
            <a:ext cx="117043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3192" y="4562856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Cross-platform context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05072" y="4572000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986783" y="4581144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559552" y="4572000"/>
            <a:ext cx="1069848" cy="329184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41264" y="4581144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6B00"/>
                </a:solidFill>
                <a:latin typeface="Calibri"/>
              </a:rPr>
              <a:t>Partial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14032" y="4572000"/>
            <a:ext cx="1069848" cy="329184"/>
          </a:xfrm>
          <a:prstGeom prst="rect">
            <a:avLst/>
          </a:prstGeom>
          <a:solidFill>
            <a:srgbClr val="FFF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095744" y="4581144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6B00"/>
                </a:solidFill>
                <a:latin typeface="Calibri"/>
              </a:rPr>
              <a:t>Partial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668511" y="4572000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50224" y="4581144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22992" y="4572000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204704" y="4581144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56032" y="5074920"/>
            <a:ext cx="11704320" cy="667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56032" y="5074920"/>
            <a:ext cx="11704320" cy="667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93192" y="5230368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Multi-model AI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005072" y="5239512"/>
            <a:ext cx="106984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986783" y="5248656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No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559552" y="5239512"/>
            <a:ext cx="106984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541264" y="5248656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No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114032" y="5239512"/>
            <a:ext cx="106984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95744" y="5248656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No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668511" y="5239512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650224" y="5248656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222992" y="5239512"/>
            <a:ext cx="106984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0204704" y="5248656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No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6032" y="5742431"/>
            <a:ext cx="117043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56032" y="5742431"/>
            <a:ext cx="117043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93192" y="5897879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2A"/>
                </a:solidFill>
                <a:latin typeface="Calibri"/>
              </a:rPr>
              <a:t>Enterprise AI security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005072" y="5907023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986783" y="5916168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5559552" y="5907023"/>
            <a:ext cx="1069848" cy="329184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541264" y="5916168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  <a:latin typeface="Calibri"/>
              </a:rPr>
              <a:t>No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114032" y="5907023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95744" y="5916168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68511" y="5907023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650224" y="5916168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222992" y="5907023"/>
            <a:ext cx="1069848" cy="329184"/>
          </a:xfrm>
          <a:prstGeom prst="rect">
            <a:avLst/>
          </a:prstGeom>
          <a:solidFill>
            <a:srgbClr val="D6F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204704" y="5916168"/>
            <a:ext cx="11064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7A55"/>
                </a:solidFill>
                <a:latin typeface="Calibri"/>
              </a:rPr>
              <a:t>Yes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56032" y="6409944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THREAT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Who Poses the Biggest Risk to TaskFlow?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117043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261872"/>
            <a:ext cx="73152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" y="1517904"/>
            <a:ext cx="1828800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536192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VERY 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19019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ClickUp Brain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1389888"/>
            <a:ext cx="9418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Most comprehensive 'chat with your work' product on the market. Cross-workspace indexing of tasks, docs, comments, and chat. Multi-model AI (GPT-5, Claude, o3). Meeting Notetaker closes the loop from call to task. Direct, head-on overlap with TaskFlow's core use case.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" y="2322576"/>
            <a:ext cx="117043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6032" y="2322576"/>
            <a:ext cx="73152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" y="2578608"/>
            <a:ext cx="1828800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2596896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" y="29626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Notion AI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5728" y="2450592"/>
            <a:ext cx="9418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Best Q&amp;A implementation for knowledge-heavy teams. Notion 3.0 AI Agents execute autonomous multi-step workflows. Cross-platform context from Slack, Google Drive, and Teams. Risk: users consolidate TaskFlow + Notion docs onto a single AI-powered platform.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" y="3383279"/>
            <a:ext cx="117043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56032" y="3383279"/>
            <a:ext cx="73152" cy="9875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" y="3639311"/>
            <a:ext cx="1828800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3657599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" y="4023359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Asana AI Teammates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5728" y="3511296"/>
            <a:ext cx="9418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Enterprise-grade with Microsoft 365 Copilot integration — a massive enterprise advantage. AI Teammates (beta) represent a qualitative new experience. Strong enterprise sales motion already targeting TaskFlow accounts in head-to-head deals.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" y="4443983"/>
            <a:ext cx="117043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" y="4443983"/>
            <a:ext cx="73152" cy="987552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02336" y="4700016"/>
            <a:ext cx="1828800" cy="329184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0624" y="4718303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HIGH (enterprise)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" y="50840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Monday.com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95728" y="4571999"/>
            <a:ext cx="9418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$1.2B 2025 revenue target with AI central to growth strategy. Monday Expert conversational agent launched March 2025 — compelling onboarding and setup experience. Biggest threat for TaskFlow's enterprise and mid-market customers.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5504688"/>
            <a:ext cx="11704320" cy="9875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5504688"/>
            <a:ext cx="73152" cy="987552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2336" y="5760720"/>
            <a:ext cx="1828800" cy="329184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0624" y="5779007"/>
            <a:ext cx="17922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" y="6144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  <a:latin typeface="Calibri"/>
              </a:rPr>
              <a:t>Linear + Copilot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8" y="5632703"/>
            <a:ext cx="9418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Engineering-team-only threat via GitHub Copilot agent integration. Powerful for dev orgs already using GitHub. No meaningful risk for general business users or non-technical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THREAT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Which Users Are Most Likely to Churn?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5650992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261872"/>
            <a:ext cx="5650992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3350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Power Users &amp; Team Admins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5112" y="1389888"/>
            <a:ext cx="141732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1444752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353312"/>
            <a:ext cx="14813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37160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Calibri"/>
              </a:rPr>
              <a:t>HIGH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" y="1920239"/>
            <a:ext cx="52852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Evaluate tools proactively. See competitor demos on LinkedIn and champion switching internally. Acutely feel the pain of manual status reporting and context-switching.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" y="3291840"/>
            <a:ext cx="528523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" y="3364991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Key competitor: ClickUp Brain · Asana AI Teammates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61872"/>
            <a:ext cx="5650992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261872"/>
            <a:ext cx="5650992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1335024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Knowledge Teams  (PMs, Content, Ops)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287000" y="1389888"/>
            <a:ext cx="141732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259567" y="1371600"/>
            <a:ext cx="1444752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241280" y="1353312"/>
            <a:ext cx="14813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22992" y="1371600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C2626"/>
                </a:solidFill>
                <a:latin typeface="Calibri"/>
              </a:rPr>
              <a:t>HIGH RISK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920239"/>
            <a:ext cx="52852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'What did we decide about X?' is a daily question. Notion Q&amp;A and ClickUp Brain answer it instantly. These users have the strongest pull toward AI-first alternatives.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82512" y="3291840"/>
            <a:ext cx="528523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82512" y="3364991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Key competitor: Notion Q&amp;A · ClickUp Brain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3895344"/>
            <a:ext cx="5650992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6032" y="3895344"/>
            <a:ext cx="5650992" cy="530352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" y="396849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Engineering Teams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2" y="4023359"/>
            <a:ext cx="141732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005072"/>
            <a:ext cx="1444752" cy="29260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9392" y="3986783"/>
            <a:ext cx="14813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61104" y="400507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06B00"/>
                </a:solidFill>
                <a:latin typeface="Calibri"/>
              </a:rPr>
              <a:t>MEDIUM RISK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" y="4553712"/>
            <a:ext cx="52852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Linear + GitHub Copilot is a purpose-built alternative for dev-centric orgs. CTOs evaluating tools at renewal may prefer Linear's focused, fast experience.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0624" y="5925312"/>
            <a:ext cx="528523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0624" y="5998464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Key competitor: Linear + GitHub Copilot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895344"/>
            <a:ext cx="5650992" cy="24871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895344"/>
            <a:ext cx="5650992" cy="530352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3968496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SMB / Solopreneurs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287000" y="4023359"/>
            <a:ext cx="141732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259567" y="4005072"/>
            <a:ext cx="1444752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241280" y="3986783"/>
            <a:ext cx="1481328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22992" y="4005072"/>
            <a:ext cx="15179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57A55"/>
                </a:solidFill>
                <a:latin typeface="Calibri"/>
              </a:rPr>
              <a:t>LOW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4553712"/>
            <a:ext cx="528523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Price-sensitive and rarely switch for features alone. AI is a 'nice to have' rather than a switching trigger. Least likely to churn in the next 90 days.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82512" y="5925312"/>
            <a:ext cx="5285232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5998464"/>
            <a:ext cx="5285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Calibri"/>
              </a:rPr>
              <a:t>Key competitor: Unlikely to switch for AI alone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THREAT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How Much Time Does TaskFlow Have?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310128"/>
            <a:ext cx="11338560" cy="1280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310128"/>
            <a:ext cx="11338560" cy="1280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328" y="3218688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1920240"/>
            <a:ext cx="22860" cy="1325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-365760" y="129844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365760" y="1755648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E"/>
                </a:solidFill>
                <a:latin typeface="Calibri"/>
              </a:rPr>
              <a:t>Sales needs answers
today — in demo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-365760" y="3630168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E"/>
                </a:solidFill>
                <a:latin typeface="Calibri"/>
              </a:rPr>
              <a:t>Sales needs answers
today — in demo calls</a:t>
            </a:r>
          </a:p>
        </p:txBody>
      </p:sp>
      <p:sp>
        <p:nvSpPr>
          <p:cNvPr id="17" name="Oval 16"/>
          <p:cNvSpPr/>
          <p:nvPr/>
        </p:nvSpPr>
        <p:spPr>
          <a:xfrm>
            <a:off x="3858768" y="3218688"/>
            <a:ext cx="347472" cy="347472"/>
          </a:xfrm>
          <a:prstGeom prst="ellipse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32503" y="1920240"/>
            <a:ext cx="22860" cy="1325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54679" y="129844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6B00"/>
                </a:solidFill>
                <a:latin typeface="Calibri"/>
              </a:rPr>
              <a:t>30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79" y="1755648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E"/>
                </a:solidFill>
                <a:latin typeface="Calibri"/>
              </a:rPr>
              <a:t>First AI renewal
conversations begin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79" y="3630168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E"/>
                </a:solidFill>
                <a:latin typeface="Calibri"/>
              </a:rPr>
              <a:t>First AI renewal
conversations begin</a:t>
            </a:r>
          </a:p>
        </p:txBody>
      </p:sp>
      <p:sp>
        <p:nvSpPr>
          <p:cNvPr id="22" name="Oval 21"/>
          <p:cNvSpPr/>
          <p:nvPr/>
        </p:nvSpPr>
        <p:spPr>
          <a:xfrm>
            <a:off x="7379207" y="3218688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552944" y="1920240"/>
            <a:ext cx="22860" cy="1325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19" y="129844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90 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19" y="1755648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E"/>
                </a:solidFill>
                <a:latin typeface="Calibri"/>
              </a:rPr>
              <a:t>First meaningful
AI-driven churn risk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19" y="3630168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E"/>
                </a:solidFill>
                <a:latin typeface="Calibri"/>
              </a:rPr>
              <a:t>First meaningful
AI-driven churn risk</a:t>
            </a:r>
          </a:p>
        </p:txBody>
      </p:sp>
      <p:sp>
        <p:nvSpPr>
          <p:cNvPr id="27" name="Oval 26"/>
          <p:cNvSpPr/>
          <p:nvPr/>
        </p:nvSpPr>
        <p:spPr>
          <a:xfrm>
            <a:off x="10671048" y="3218688"/>
            <a:ext cx="347472" cy="3474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844784" y="1920240"/>
            <a:ext cx="22860" cy="1325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1298448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  <a:latin typeface="Calibri"/>
              </a:rPr>
              <a:t>6 MONTHS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1755648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E"/>
                </a:solidFill>
                <a:latin typeface="Calibri"/>
              </a:rPr>
              <a:t>AI absence = clear
competitive disadvantage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66960" y="3630168"/>
            <a:ext cx="1783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56E"/>
                </a:solidFill>
                <a:latin typeface="Calibri"/>
              </a:rPr>
              <a:t>AI absence = clear
competitive disadvantage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10128"/>
            <a:ext cx="3520439" cy="128016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77639" y="3310128"/>
            <a:ext cx="3520439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79" y="3310128"/>
            <a:ext cx="3931920" cy="12801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709160"/>
            <a:ext cx="11338560" cy="1508760"/>
          </a:xfrm>
          <a:prstGeom prst="rect">
            <a:avLst/>
          </a:prstGeom>
          <a:solidFill>
            <a:srgbClr val="EBF3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4709160"/>
            <a:ext cx="54864" cy="150876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846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  <a:latin typeface="Calibri"/>
              </a:rPr>
              <a:t>The window is not closed — but the clock is running.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2578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E"/>
                </a:solidFill>
                <a:latin typeface="Calibri"/>
              </a:rPr>
              <a:t>Customer churn from AI-related switching typically happens at contract renewal, not immediately. This means TaskFlow has a meaningful window to communicate a credible AI roadmap — but only if that communication reaches customers before they hear about competitors from their peers or see a demo.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6ACF"/>
                </a:solidFill>
                <a:latin typeface="Calibri"/>
              </a:rPr>
              <a:t>RESPONSE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Three-Horizon Response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3794760" cy="12344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32588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0–30
DAYS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IMMEDIATE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542032"/>
            <a:ext cx="379476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912" y="2788920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7797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7432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CEO email to customers with AI roadmap preview</a:t>
            </a:r>
          </a:p>
        </p:txBody>
      </p:sp>
      <p:sp>
        <p:nvSpPr>
          <p:cNvPr id="17" name="Oval 16"/>
          <p:cNvSpPr/>
          <p:nvPr/>
        </p:nvSpPr>
        <p:spPr>
          <a:xfrm>
            <a:off x="438912" y="3977639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39684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39319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Sales battle card with objection handlers</a:t>
            </a:r>
          </a:p>
        </p:txBody>
      </p:sp>
      <p:sp>
        <p:nvSpPr>
          <p:cNvPr id="20" name="Oval 19"/>
          <p:cNvSpPr/>
          <p:nvPr/>
        </p:nvSpPr>
        <p:spPr>
          <a:xfrm>
            <a:off x="438912" y="5166359"/>
            <a:ext cx="256032" cy="25603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51572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" y="51206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Remove all 'no AI' messaging from website &amp; decks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3672" y="1261872"/>
            <a:ext cx="3794760" cy="1234440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132588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30–90
DAYS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42431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SHORT-TERM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33672" y="2542032"/>
            <a:ext cx="379476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16552" y="2788920"/>
            <a:ext cx="256032" cy="256032"/>
          </a:xfrm>
          <a:prstGeom prst="ellipse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16552" y="27797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27432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Ship AI semantic search (fastest credible feature)</a:t>
            </a:r>
          </a:p>
        </p:txBody>
      </p:sp>
      <p:sp>
        <p:nvSpPr>
          <p:cNvPr id="30" name="Oval 29"/>
          <p:cNvSpPr/>
          <p:nvPr/>
        </p:nvSpPr>
        <p:spPr>
          <a:xfrm>
            <a:off x="4416552" y="3977639"/>
            <a:ext cx="256032" cy="256032"/>
          </a:xfrm>
          <a:prstGeom prst="ellipse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16552" y="39684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82312" y="39319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Publish public AI roadmap page</a:t>
            </a:r>
          </a:p>
        </p:txBody>
      </p:sp>
      <p:sp>
        <p:nvSpPr>
          <p:cNvPr id="33" name="Oval 32"/>
          <p:cNvSpPr/>
          <p:nvPr/>
        </p:nvSpPr>
        <p:spPr>
          <a:xfrm>
            <a:off x="4416552" y="5166359"/>
            <a:ext cx="256032" cy="256032"/>
          </a:xfrm>
          <a:prstGeom prst="ellipse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16552" y="51572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82312" y="51206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Evaluate Anthropic / OpenAI API partnership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11311" y="1261872"/>
            <a:ext cx="3794760" cy="123444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191" y="1325880"/>
            <a:ext cx="1280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90+
DAYS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20072" y="14173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LONG-TERM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11311" y="2542032"/>
            <a:ext cx="379476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94191" y="2788920"/>
            <a:ext cx="256032" cy="256032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1" y="277977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9951" y="274320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Full conversational AI assistant (RAG-powered)</a:t>
            </a:r>
          </a:p>
        </p:txBody>
      </p:sp>
      <p:sp>
        <p:nvSpPr>
          <p:cNvPr id="43" name="Oval 42"/>
          <p:cNvSpPr/>
          <p:nvPr/>
        </p:nvSpPr>
        <p:spPr>
          <a:xfrm>
            <a:off x="8394191" y="3977639"/>
            <a:ext cx="256032" cy="256032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1" y="396849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59951" y="393192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Natural language AI automations</a:t>
            </a:r>
          </a:p>
        </p:txBody>
      </p:sp>
      <p:sp>
        <p:nvSpPr>
          <p:cNvPr id="46" name="Oval 45"/>
          <p:cNvSpPr/>
          <p:nvPr/>
        </p:nvSpPr>
        <p:spPr>
          <a:xfrm>
            <a:off x="8394191" y="5166359"/>
            <a:ext cx="256032" cy="256032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94191" y="5157216"/>
            <a:ext cx="2560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59951" y="5120640"/>
            <a:ext cx="3108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2A"/>
                </a:solidFill>
                <a:latin typeface="Calibri"/>
              </a:rPr>
              <a:t>Meeting intelligence: auto-create tasks from calls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DC2626"/>
                </a:solidFill>
                <a:latin typeface="Calibri"/>
              </a:rPr>
              <a:t>IMMEDIATE  ·  0–30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Actions the Team Can Take This Week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117043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261872"/>
            <a:ext cx="73152" cy="16276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" y="1517904"/>
            <a:ext cx="59436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51790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3898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CEO Email to All Customers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177393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Send from Sarah Chen by end of this week.</a:t>
            </a:r>
          </a:p>
        </p:txBody>
      </p:sp>
      <p:sp>
        <p:nvSpPr>
          <p:cNvPr id="16" name="Oval 15"/>
          <p:cNvSpPr/>
          <p:nvPr/>
        </p:nvSpPr>
        <p:spPr>
          <a:xfrm>
            <a:off x="1170432" y="1527048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1463039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Subject line: "TaskFlow AI is coming — here's what we're building"</a:t>
            </a:r>
          </a:p>
        </p:txBody>
      </p:sp>
      <p:sp>
        <p:nvSpPr>
          <p:cNvPr id="18" name="Oval 17"/>
          <p:cNvSpPr/>
          <p:nvPr/>
        </p:nvSpPr>
        <p:spPr>
          <a:xfrm>
            <a:off x="1170432" y="1856231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1792224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Acknowledge the AI wave; don't pretend it isn't happening</a:t>
            </a:r>
          </a:p>
        </p:txBody>
      </p:sp>
      <p:sp>
        <p:nvSpPr>
          <p:cNvPr id="20" name="Oval 19"/>
          <p:cNvSpPr/>
          <p:nvPr/>
        </p:nvSpPr>
        <p:spPr>
          <a:xfrm>
            <a:off x="1170432" y="2185415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12140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Share 3 concrete roadmap items with real dates</a:t>
            </a:r>
          </a:p>
        </p:txBody>
      </p:sp>
      <p:sp>
        <p:nvSpPr>
          <p:cNvPr id="22" name="Oval 21"/>
          <p:cNvSpPr/>
          <p:nvPr/>
        </p:nvSpPr>
        <p:spPr>
          <a:xfrm>
            <a:off x="1170432" y="2514599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2450591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Offer VIP beta access — turn concern into excitement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" y="2999232"/>
            <a:ext cx="117043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6032" y="2999232"/>
            <a:ext cx="73152" cy="16276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2336" y="3255263"/>
            <a:ext cx="59436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" y="3255263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12724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Sales Battle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35112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One-pager for sales team before next week's pipeline calls.</a:t>
            </a:r>
          </a:p>
        </p:txBody>
      </p:sp>
      <p:sp>
        <p:nvSpPr>
          <p:cNvPr id="30" name="Oval 29"/>
          <p:cNvSpPr/>
          <p:nvPr/>
        </p:nvSpPr>
        <p:spPr>
          <a:xfrm>
            <a:off x="1170432" y="3264408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3200400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Objection handler for: ClickUp Brain, Notion Q&amp;A, Asana Teammates</a:t>
            </a:r>
          </a:p>
        </p:txBody>
      </p:sp>
      <p:sp>
        <p:nvSpPr>
          <p:cNvPr id="32" name="Oval 31"/>
          <p:cNvSpPr/>
          <p:nvPr/>
        </p:nvSpPr>
        <p:spPr>
          <a:xfrm>
            <a:off x="1170432" y="3593591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3529584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Key counter: competitors charge $200–280/month extra for AI</a:t>
            </a:r>
          </a:p>
        </p:txBody>
      </p:sp>
      <p:sp>
        <p:nvSpPr>
          <p:cNvPr id="34" name="Oval 33"/>
          <p:cNvSpPr/>
          <p:nvPr/>
        </p:nvSpPr>
        <p:spPr>
          <a:xfrm>
            <a:off x="1170432" y="392277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385876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Bridging answer for 'do you have AI?' — honest + roadmap-forward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56032" y="4736592"/>
            <a:ext cx="11704320" cy="16276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6032" y="4736592"/>
            <a:ext cx="73152" cy="16276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2336" y="4992624"/>
            <a:ext cx="594360" cy="594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4992624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4864607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Messaging Audit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" y="524865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Immediate website and deck review.</a:t>
            </a:r>
          </a:p>
        </p:txBody>
      </p:sp>
      <p:sp>
        <p:nvSpPr>
          <p:cNvPr id="42" name="Oval 41"/>
          <p:cNvSpPr/>
          <p:nvPr/>
        </p:nvSpPr>
        <p:spPr>
          <a:xfrm>
            <a:off x="1170432" y="5001768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4937759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Search for: 'simple', 'focused', 'no bloat', 'just works' — review each</a:t>
            </a:r>
          </a:p>
        </p:txBody>
      </p:sp>
      <p:sp>
        <p:nvSpPr>
          <p:cNvPr id="44" name="Oval 43"/>
          <p:cNvSpPr/>
          <p:nvPr/>
        </p:nvSpPr>
        <p:spPr>
          <a:xfrm>
            <a:off x="1170432" y="5330952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266944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Remove or reframe language that implies intentionally AI-free</a:t>
            </a:r>
          </a:p>
        </p:txBody>
      </p:sp>
      <p:sp>
        <p:nvSpPr>
          <p:cNvPr id="46" name="Oval 45"/>
          <p:cNvSpPr/>
          <p:nvPr/>
        </p:nvSpPr>
        <p:spPr>
          <a:xfrm>
            <a:off x="1170432" y="5660136"/>
            <a:ext cx="118872" cy="118872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71600" y="5596127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What was a differentiator in 2022 is a liability in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6B00"/>
                </a:solidFill>
                <a:latin typeface="Calibri"/>
              </a:rPr>
              <a:t>SHORT-TERM  ·  30–90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First Shippable AI + Market Signals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6949440" cy="5321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261872"/>
            <a:ext cx="73152" cy="5321808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" y="1371600"/>
            <a:ext cx="2194560" cy="274320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" y="1389888"/>
            <a:ext cx="217627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PRIORITY SHIP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" y="173736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1B2A"/>
                </a:solidFill>
                <a:latin typeface="Calibri"/>
              </a:rPr>
              <a:t>AI Semantic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224028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The fastest credible AI feature TaskFlow can ship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2336" y="2633472"/>
            <a:ext cx="662940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02336" y="2880360"/>
            <a:ext cx="182880" cy="182880"/>
          </a:xfrm>
          <a:prstGeom prst="ellipse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825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6B00"/>
                </a:solidFill>
                <a:latin typeface="Calibri"/>
              </a:rPr>
              <a:t>What it does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099815"/>
            <a:ext cx="6355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Users type natural language: 'overdue Q1 launch tasks' — AI returns ranked relevant results, not keyword matches</a:t>
            </a:r>
          </a:p>
        </p:txBody>
      </p:sp>
      <p:sp>
        <p:nvSpPr>
          <p:cNvPr id="20" name="Oval 19"/>
          <p:cNvSpPr/>
          <p:nvPr/>
        </p:nvSpPr>
        <p:spPr>
          <a:xfrm>
            <a:off x="402336" y="3776471"/>
            <a:ext cx="182880" cy="182880"/>
          </a:xfrm>
          <a:prstGeom prst="ellipse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3721607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6B00"/>
                </a:solidFill>
                <a:latin typeface="Calibri"/>
              </a:rPr>
              <a:t>Why this first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3995927"/>
            <a:ext cx="6355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Low hallucination risk (retrieval, not generation). Technically simpler than full chat. Ships in 4–6 weeks.</a:t>
            </a:r>
          </a:p>
        </p:txBody>
      </p:sp>
      <p:sp>
        <p:nvSpPr>
          <p:cNvPr id="23" name="Oval 22"/>
          <p:cNvSpPr/>
          <p:nvPr/>
        </p:nvSpPr>
        <p:spPr>
          <a:xfrm>
            <a:off x="402336" y="4672583"/>
            <a:ext cx="182880" cy="182880"/>
          </a:xfrm>
          <a:prstGeom prst="ellipse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46177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6B00"/>
                </a:solidFill>
                <a:latin typeface="Calibri"/>
              </a:rPr>
              <a:t>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892040"/>
            <a:ext cx="6355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Immediately addresses the 'chat with your tasks' use case. Credible demo for sales within weeks of launch.</a:t>
            </a:r>
          </a:p>
        </p:txBody>
      </p:sp>
      <p:sp>
        <p:nvSpPr>
          <p:cNvPr id="26" name="Oval 25"/>
          <p:cNvSpPr/>
          <p:nvPr/>
        </p:nvSpPr>
        <p:spPr>
          <a:xfrm>
            <a:off x="402336" y="5568696"/>
            <a:ext cx="182880" cy="182880"/>
          </a:xfrm>
          <a:prstGeom prst="ellipse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55138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6B00"/>
                </a:solidFill>
                <a:latin typeface="Calibri"/>
              </a:rPr>
              <a:t>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5788152"/>
            <a:ext cx="63550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Embed task data into a vector store via Anthropic/OpenAI API. No internal ML team required.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88352" y="1261872"/>
            <a:ext cx="457200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88352" y="1261872"/>
            <a:ext cx="73152" cy="2542032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52944" y="1426463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Publish Public AI Roadmap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52944" y="1883664"/>
            <a:ext cx="4251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571231" y="2066543"/>
            <a:ext cx="118872" cy="118872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2011679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Q2 2025 — AI Semantic Search  (In Development)</a:t>
            </a:r>
          </a:p>
        </p:txBody>
      </p:sp>
      <p:sp>
        <p:nvSpPr>
          <p:cNvPr id="35" name="Oval 34"/>
          <p:cNvSpPr/>
          <p:nvPr/>
        </p:nvSpPr>
        <p:spPr>
          <a:xfrm>
            <a:off x="7571231" y="2487168"/>
            <a:ext cx="118872" cy="118872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2432303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Q3 2025 — AI Summaries &amp; Status Updates</a:t>
            </a:r>
          </a:p>
        </p:txBody>
      </p:sp>
      <p:sp>
        <p:nvSpPr>
          <p:cNvPr id="37" name="Oval 36"/>
          <p:cNvSpPr/>
          <p:nvPr/>
        </p:nvSpPr>
        <p:spPr>
          <a:xfrm>
            <a:off x="7571231" y="2907791"/>
            <a:ext cx="118872" cy="118872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2852927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Q4 2025 — Full Conversational AI Assistant</a:t>
            </a:r>
          </a:p>
        </p:txBody>
      </p:sp>
      <p:sp>
        <p:nvSpPr>
          <p:cNvPr id="39" name="Oval 38"/>
          <p:cNvSpPr/>
          <p:nvPr/>
        </p:nvSpPr>
        <p:spPr>
          <a:xfrm>
            <a:off x="7571231" y="3328415"/>
            <a:ext cx="118872" cy="118872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0" y="3273552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Q1 2026 — Natural Language Automations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88352" y="3968496"/>
            <a:ext cx="4572000" cy="25420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88352" y="3968496"/>
            <a:ext cx="73152" cy="2542032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52944" y="4133087"/>
            <a:ext cx="4251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  <a:latin typeface="Calibri"/>
              </a:rPr>
              <a:t>Evaluate AI API Partnership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552944" y="4590288"/>
            <a:ext cx="425196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571231" y="4773168"/>
            <a:ext cx="118872" cy="11887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0" y="4718304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Anthropic / OpenAI API for Q&amp;A layer — 8-12 weeks to v1</a:t>
            </a:r>
          </a:p>
        </p:txBody>
      </p:sp>
      <p:sp>
        <p:nvSpPr>
          <p:cNvPr id="47" name="Oval 46"/>
          <p:cNvSpPr/>
          <p:nvPr/>
        </p:nvSpPr>
        <p:spPr>
          <a:xfrm>
            <a:off x="7571231" y="5193792"/>
            <a:ext cx="118872" cy="11887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0" y="5138928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Microsoft 365 Copilot connector for enterprise accounts</a:t>
            </a:r>
          </a:p>
        </p:txBody>
      </p:sp>
      <p:sp>
        <p:nvSpPr>
          <p:cNvPr id="49" name="Oval 48"/>
          <p:cNvSpPr/>
          <p:nvPr/>
        </p:nvSpPr>
        <p:spPr>
          <a:xfrm>
            <a:off x="7571231" y="5614416"/>
            <a:ext cx="118872" cy="11887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0" y="5559552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Multi-model choice (GPT + Claude) as a differentiator</a:t>
            </a:r>
          </a:p>
        </p:txBody>
      </p:sp>
      <p:sp>
        <p:nvSpPr>
          <p:cNvPr id="51" name="Oval 50"/>
          <p:cNvSpPr/>
          <p:nvPr/>
        </p:nvSpPr>
        <p:spPr>
          <a:xfrm>
            <a:off x="7571231" y="6035040"/>
            <a:ext cx="118872" cy="11887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0" y="5980176"/>
            <a:ext cx="4023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56E"/>
                </a:solidFill>
                <a:latin typeface="Calibri"/>
              </a:rPr>
              <a:t>API-first for v1; evaluate internal build for v2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57A55"/>
                </a:solidFill>
                <a:latin typeface="Calibri"/>
              </a:rPr>
              <a:t>LONG-TERM  ·  90+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Full AI Vision for TaskFlow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3794760" cy="141732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335024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Full Conversational
AI Assistant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239572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Target: Q4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2724912"/>
            <a:ext cx="379476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8912" y="3017520"/>
            <a:ext cx="164592" cy="164592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2962656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Ask: 'What's blocking the launch?', 'Which tasks am I behind on this week?'</a:t>
            </a:r>
          </a:p>
        </p:txBody>
      </p:sp>
      <p:sp>
        <p:nvSpPr>
          <p:cNvPr id="16" name="Oval 15"/>
          <p:cNvSpPr/>
          <p:nvPr/>
        </p:nvSpPr>
        <p:spPr>
          <a:xfrm>
            <a:off x="438912" y="3730752"/>
            <a:ext cx="164592" cy="164592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675887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RAG architecture: index all tasks, projects, comments into a vector store</a:t>
            </a:r>
          </a:p>
        </p:txBody>
      </p:sp>
      <p:sp>
        <p:nvSpPr>
          <p:cNvPr id="18" name="Oval 17"/>
          <p:cNvSpPr/>
          <p:nvPr/>
        </p:nvSpPr>
        <p:spPr>
          <a:xfrm>
            <a:off x="438912" y="4443984"/>
            <a:ext cx="164592" cy="164592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38912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Natural language task creation and updates via chat</a:t>
            </a:r>
          </a:p>
        </p:txBody>
      </p:sp>
      <p:sp>
        <p:nvSpPr>
          <p:cNvPr id="20" name="Oval 19"/>
          <p:cNvSpPr/>
          <p:nvPr/>
        </p:nvSpPr>
        <p:spPr>
          <a:xfrm>
            <a:off x="438912" y="5157216"/>
            <a:ext cx="164592" cy="164592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102351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Slack / Teams integration for cross-platform context</a:t>
            </a:r>
          </a:p>
        </p:txBody>
      </p:sp>
      <p:sp>
        <p:nvSpPr>
          <p:cNvPr id="22" name="Oval 21"/>
          <p:cNvSpPr/>
          <p:nvPr/>
        </p:nvSpPr>
        <p:spPr>
          <a:xfrm>
            <a:off x="438912" y="5870448"/>
            <a:ext cx="164592" cy="164592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5815584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API-first v1 in 8-12 weeks; internal build for v2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33672" y="1261872"/>
            <a:ext cx="3794760" cy="141732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2" y="1335024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Natural Language
AI Automations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239572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Target: Q1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33672" y="2724912"/>
            <a:ext cx="379476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6552" y="3017520"/>
            <a:ext cx="164592" cy="164592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2962656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Describe automations in plain English — no builder required</a:t>
            </a:r>
          </a:p>
        </p:txBody>
      </p:sp>
      <p:sp>
        <p:nvSpPr>
          <p:cNvPr id="30" name="Oval 29"/>
          <p:cNvSpPr/>
          <p:nvPr/>
        </p:nvSpPr>
        <p:spPr>
          <a:xfrm>
            <a:off x="4416552" y="3730752"/>
            <a:ext cx="164592" cy="164592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90872" y="3675887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'When a task is overdue 3 days, alert assignee and escalate'</a:t>
            </a:r>
          </a:p>
        </p:txBody>
      </p:sp>
      <p:sp>
        <p:nvSpPr>
          <p:cNvPr id="32" name="Oval 31"/>
          <p:cNvSpPr/>
          <p:nvPr/>
        </p:nvSpPr>
        <p:spPr>
          <a:xfrm>
            <a:off x="4416552" y="4443984"/>
            <a:ext cx="164592" cy="164592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90872" y="438912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Equivalent to Asana AI Studio and Monday AI Blocks</a:t>
            </a:r>
          </a:p>
        </p:txBody>
      </p:sp>
      <p:sp>
        <p:nvSpPr>
          <p:cNvPr id="34" name="Oval 33"/>
          <p:cNvSpPr/>
          <p:nvPr/>
        </p:nvSpPr>
        <p:spPr>
          <a:xfrm>
            <a:off x="4416552" y="5157216"/>
            <a:ext cx="164592" cy="164592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90872" y="5102351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This is the next major battleground after conversational AI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11311" y="1261872"/>
            <a:ext cx="3794760" cy="141732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94191" y="1335024"/>
            <a:ext cx="3429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Meeting Intelligence
Integration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1" y="2395728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  <a:latin typeface="Calibri"/>
              </a:rPr>
              <a:t>Target: Q1–Q2 2026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11311" y="2724912"/>
            <a:ext cx="3794760" cy="3858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394191" y="3017520"/>
            <a:ext cx="164592" cy="1645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68511" y="2962656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Connect Zoom / Google Meet transcripts to TaskFlow</a:t>
            </a:r>
          </a:p>
        </p:txBody>
      </p:sp>
      <p:sp>
        <p:nvSpPr>
          <p:cNvPr id="42" name="Oval 41"/>
          <p:cNvSpPr/>
          <p:nvPr/>
        </p:nvSpPr>
        <p:spPr>
          <a:xfrm>
            <a:off x="8394191" y="3730752"/>
            <a:ext cx="164592" cy="1645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68511" y="3675887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AI identifies action items, assigns owners, sets due dates</a:t>
            </a:r>
          </a:p>
        </p:txBody>
      </p:sp>
      <p:sp>
        <p:nvSpPr>
          <p:cNvPr id="44" name="Oval 43"/>
          <p:cNvSpPr/>
          <p:nvPr/>
        </p:nvSpPr>
        <p:spPr>
          <a:xfrm>
            <a:off x="8394191" y="4443984"/>
            <a:ext cx="164592" cy="1645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68511" y="4389120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Closes the loop: verbal commitment → TaskFlow task automatically</a:t>
            </a:r>
          </a:p>
        </p:txBody>
      </p:sp>
      <p:sp>
        <p:nvSpPr>
          <p:cNvPr id="46" name="Oval 45"/>
          <p:cNvSpPr/>
          <p:nvPr/>
        </p:nvSpPr>
        <p:spPr>
          <a:xfrm>
            <a:off x="8394191" y="5157216"/>
            <a:ext cx="164592" cy="164592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68511" y="5102351"/>
            <a:ext cx="3200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E"/>
                </a:solidFill>
                <a:latin typeface="Calibri"/>
              </a:rPr>
              <a:t>Equivalent to ClickUp Notetaker &amp; Notion Meeting Notes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6ACF"/>
                </a:solidFill>
                <a:latin typeface="Calibri"/>
              </a:rPr>
              <a:t>STRATEGIC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The AI Pricing Gap: TaskFlow's Competitive Wedge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" y="12984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7556E"/>
                </a:solidFill>
                <a:latin typeface="Calibri"/>
              </a:rPr>
              <a:t>Monthly AI cost for a 10-person team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" y="1828800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ClickUp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5648" y="1847088"/>
            <a:ext cx="676656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55648" y="1847088"/>
            <a:ext cx="6766560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1847088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~$280/mo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" y="2697480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Asana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55648" y="2715768"/>
            <a:ext cx="6041571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55648" y="2715768"/>
            <a:ext cx="6041571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52083" y="2715768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~$250/mo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" y="3566160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Notion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55648" y="3584448"/>
            <a:ext cx="4833257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55648" y="3584448"/>
            <a:ext cx="4833257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43769" y="3584448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Calibri"/>
              </a:rPr>
              <a:t>~$200/mo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" y="4434840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Monday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55648" y="4453127"/>
            <a:ext cx="4833257" cy="530352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55648" y="4453127"/>
            <a:ext cx="4833257" cy="530352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43769" y="4453127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6B00"/>
                </a:solidFill>
                <a:latin typeface="Calibri"/>
              </a:rPr>
              <a:t>~$200/mo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" y="5303520"/>
            <a:ext cx="14173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  <a:latin typeface="Calibri"/>
              </a:rPr>
              <a:t>Linear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55648" y="5321807"/>
            <a:ext cx="3383280" cy="530352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55648" y="5321807"/>
            <a:ext cx="3383280" cy="530352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93792" y="5321807"/>
            <a:ext cx="1188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6B00"/>
                </a:solidFill>
                <a:latin typeface="Calibri"/>
              </a:rPr>
              <a:t>~$140/mo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85632" y="1261872"/>
            <a:ext cx="3474720" cy="5321808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13648" y="1389888"/>
            <a:ext cx="32004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TaskFlow
Opportunity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13648" y="2331720"/>
            <a:ext cx="3200400" cy="27432"/>
          </a:xfrm>
          <a:prstGeom prst="rect">
            <a:avLst/>
          </a:prstGeom>
          <a:solidFill>
            <a:srgbClr val="5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613648" y="2487168"/>
            <a:ext cx="164592" cy="164592"/>
          </a:xfrm>
          <a:prstGeom prst="ellipse">
            <a:avLst/>
          </a:prstGeom>
          <a:solidFill>
            <a:srgbClr val="5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2432304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No competitor offers meaningful AI for free</a:t>
            </a:r>
          </a:p>
        </p:txBody>
      </p:sp>
      <p:sp>
        <p:nvSpPr>
          <p:cNvPr id="36" name="Oval 35"/>
          <p:cNvSpPr/>
          <p:nvPr/>
        </p:nvSpPr>
        <p:spPr>
          <a:xfrm>
            <a:off x="8613648" y="3255264"/>
            <a:ext cx="164592" cy="164592"/>
          </a:xfrm>
          <a:prstGeom prst="ellipse">
            <a:avLst/>
          </a:prstGeom>
          <a:solidFill>
            <a:srgbClr val="5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3200400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All charge $15–28/user/month on top of base plan</a:t>
            </a:r>
          </a:p>
        </p:txBody>
      </p:sp>
      <p:sp>
        <p:nvSpPr>
          <p:cNvPr id="38" name="Oval 37"/>
          <p:cNvSpPr/>
          <p:nvPr/>
        </p:nvSpPr>
        <p:spPr>
          <a:xfrm>
            <a:off x="8613648" y="4023360"/>
            <a:ext cx="164592" cy="164592"/>
          </a:xfrm>
          <a:prstGeom prst="ellipse">
            <a:avLst/>
          </a:prstGeom>
          <a:solidFill>
            <a:srgbClr val="5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3968496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Recommendation: bundle AI into existing paid plans</a:t>
            </a:r>
          </a:p>
        </p:txBody>
      </p:sp>
      <p:sp>
        <p:nvSpPr>
          <p:cNvPr id="40" name="Oval 39"/>
          <p:cNvSpPr/>
          <p:nvPr/>
        </p:nvSpPr>
        <p:spPr>
          <a:xfrm>
            <a:off x="8613648" y="4791456"/>
            <a:ext cx="164592" cy="164592"/>
          </a:xfrm>
          <a:prstGeom prst="ellipse">
            <a:avLst/>
          </a:prstGeom>
          <a:solidFill>
            <a:srgbClr val="5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4736592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Use AI as a retention and upgrade driver, not a surcharge</a:t>
            </a:r>
          </a:p>
        </p:txBody>
      </p:sp>
      <p:sp>
        <p:nvSpPr>
          <p:cNvPr id="42" name="Oval 41"/>
          <p:cNvSpPr/>
          <p:nvPr/>
        </p:nvSpPr>
        <p:spPr>
          <a:xfrm>
            <a:off x="8613648" y="5559552"/>
            <a:ext cx="164592" cy="164592"/>
          </a:xfrm>
          <a:prstGeom prst="ellipse">
            <a:avLst/>
          </a:prstGeom>
          <a:solidFill>
            <a:srgbClr val="5B9B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69680" y="5504688"/>
            <a:ext cx="2926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Sales talking point: 'AI at no extra cost'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56032" y="6080760"/>
            <a:ext cx="8028431" cy="475488"/>
          </a:xfrm>
          <a:prstGeom prst="rect">
            <a:avLst/>
          </a:prstGeom>
          <a:solidFill>
            <a:srgbClr val="EBF3FF"/>
          </a:solidFill>
          <a:ln w="508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6144768"/>
            <a:ext cx="7818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D6ACF"/>
                </a:solidFill>
                <a:latin typeface="Calibri"/>
              </a:rPr>
              <a:t>Key insight: every competitor has made AI an expensive surcharge. TaskFlow can own the narrative of 'AI that doesn't nickel-and-dime your team.'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B3A6B"/>
                </a:solidFill>
                <a:latin typeface="Calibri"/>
              </a:rPr>
              <a:t>EXEC MESSAGING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Talking Points for Sarah Chen, CEO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5650992" cy="2542032"/>
          </a:xfrm>
          <a:prstGeom prst="rect">
            <a:avLst/>
          </a:prstGeom>
          <a:solidFill>
            <a:srgbClr val="EBF3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261872"/>
            <a:ext cx="5650992" cy="4572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" y="1353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For: Board &amp; Investors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1856231"/>
            <a:ext cx="53218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D1B2A"/>
                </a:solidFill>
                <a:latin typeface="Calibri"/>
              </a:rPr>
              <a:t>"The market has confirmed what we've believed: AI-powered task management is the future. Our competitors' launches validate the direction. We're positioned to respond with a focused, pragmatic roadmap — starting with shippable AI in Q2, scaling to full conversational AI by end of year."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5352" y="1261872"/>
            <a:ext cx="5650992" cy="2542032"/>
          </a:xfrm>
          <a:prstGeom prst="rect">
            <a:avLst/>
          </a:prstGeom>
          <a:solidFill>
            <a:srgbClr val="D6F5EB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45352" y="1261872"/>
            <a:ext cx="5650992" cy="4572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3533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For: Customer Conversations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856231"/>
            <a:ext cx="53218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D1B2A"/>
                </a:solidFill>
                <a:latin typeface="Calibri"/>
              </a:rPr>
              <a:t>"You've probably seen announcements from ClickUp, Notion, and Asana about AI features. We've been building our AI capabilities with the same care we brought to the rest of TaskFlow — focused on what actually helps you get work done, not AI for its own sake. Here's what's coming and when..."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3931920"/>
            <a:ext cx="5650992" cy="2542032"/>
          </a:xfrm>
          <a:prstGeom prst="rect">
            <a:avLst/>
          </a:prstGeom>
          <a:solidFill>
            <a:srgbClr val="FFF3D6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3931920"/>
            <a:ext cx="5650992" cy="457200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402335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For: Press &amp; Analysts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" y="4526280"/>
            <a:ext cx="53218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D1B2A"/>
                </a:solidFill>
                <a:latin typeface="Calibri"/>
              </a:rPr>
              <a:t>"TaskFlow is building AI-native task management grounded in how teams actually work — not AI bolted onto legacy architecture. Our approach prioritizes retrieval accuracy, data privacy, and seamless workflow integration. Launching first AI features Q2 2025; full conversational assistant Q4."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3931920"/>
            <a:ext cx="5650992" cy="254203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45352" y="3931920"/>
            <a:ext cx="5650992" cy="4572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023359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For: Sales Team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4526280"/>
            <a:ext cx="53218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0D1B2A"/>
                </a:solidFill>
                <a:latin typeface="Calibri"/>
              </a:rPr>
              <a:t>"Yes, we're actively shipping AI features. Here's our roadmap: [show page]. Our competitors charge $200–280/month extra for a 10-person team just for AI. We're delivering AI value without punishing our customers with surcharges — that's the conversation to have with every prospect."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6ACF"/>
                </a:solidFill>
                <a:latin typeface="Calibri"/>
              </a:rPr>
              <a:t>LEADERSHIP DECISIONS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4 Decisions the Exec Team Must Make Now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117043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6032" y="1261872"/>
            <a:ext cx="566928" cy="1243584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" y="1664207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353312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AI Pricing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700784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Include AI in paid plans  vs.  Charge as a separate add-on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011679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2121408"/>
            <a:ext cx="146304" cy="146304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07008" y="2084831"/>
            <a:ext cx="10442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Include in paid plans. Use AI as a retention and upgrade driver. Directly counters competitors' 'AI tax' narrative.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" y="2578608"/>
            <a:ext cx="117043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" y="2578608"/>
            <a:ext cx="566928" cy="1243584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" y="2980944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670048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Build vs. Integrate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01752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Internal AI engineering team  vs.  API partnership (Anthropic / OpenAI)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3328415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7552" y="3438144"/>
            <a:ext cx="146304" cy="146304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07008" y="3401568"/>
            <a:ext cx="10442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API-first for v1 — delivers a compelling demo in 8–12 weeks vs. 6–12 months for internal build. Evaluate internal build for v2.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895344"/>
            <a:ext cx="117043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895344"/>
            <a:ext cx="566928" cy="1243584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032" y="4297680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986783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First Feature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33425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AI Semantic Search  vs.  AI Summaries  vs.  Full Conversational Chat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0120" y="4645152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87552" y="4754879"/>
            <a:ext cx="146304" cy="146304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07008" y="4718304"/>
            <a:ext cx="10442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Smart Search first — lowest hallucination risk, fastest to ship, directly addresses the 'chat with tasks' use case at manageable scope.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5212080"/>
            <a:ext cx="117043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56032" y="5212080"/>
            <a:ext cx="566928" cy="1243584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5614416"/>
            <a:ext cx="5669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30352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  <a:latin typeface="Calibri"/>
              </a:rPr>
              <a:t>Public Roadmap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65099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94A3B8"/>
                </a:solidFill>
                <a:latin typeface="Calibri"/>
              </a:rPr>
              <a:t>Publish a public AI roadmap page  vs.  Keep roadmap internal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0120" y="5961888"/>
            <a:ext cx="1069848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87552" y="6071616"/>
            <a:ext cx="146304" cy="146304"/>
          </a:xfrm>
          <a:prstGeom prst="ellipse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07008" y="6035040"/>
            <a:ext cx="104424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56E"/>
                </a:solidFill>
                <a:latin typeface="Calibri"/>
              </a:rPr>
              <a:t>Go public. Silence is worse than uncertainty. A visible roadmap gives sales reps something concrete to show prospects today.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" y="6757416"/>
            <a:ext cx="73152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4A3B8"/>
                </a:solidFill>
                <a:latin typeface="Calibri"/>
              </a:rPr>
              <a:t>TaskFlow  ·  Confidential  ·  March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" y="18288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6ACF"/>
                </a:solidFill>
                <a:latin typeface="Calibri"/>
              </a:rPr>
              <a:t>SUCCESS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402336"/>
            <a:ext cx="11795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  <a:latin typeface="Calibri"/>
              </a:rPr>
              <a:t>How We'll Know the Strategy Is Working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" y="1143000"/>
            <a:ext cx="1170432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94A3B8"/>
                </a:solidFill>
                <a:latin typeface="Calibri"/>
              </a:rPr>
              <a:t>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032" y="1261872"/>
            <a:ext cx="1170432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9844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2" y="1298448"/>
            <a:ext cx="3291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1298448"/>
            <a:ext cx="21945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Timeline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" y="1737360"/>
            <a:ext cx="11704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6032" y="1737360"/>
            <a:ext cx="73152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993391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AI-related churn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965960"/>
            <a:ext cx="3246120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984248"/>
            <a:ext cx="3136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&lt; 2% per quarter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199339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E"/>
                </a:solidFill>
                <a:latin typeface="Calibri"/>
              </a:rPr>
              <a:t>90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" y="2651760"/>
            <a:ext cx="1170432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6032" y="2651760"/>
            <a:ext cx="73152" cy="914400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907791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Sales win rate (AI mentioned)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9632" y="2880360"/>
            <a:ext cx="3246120" cy="384048"/>
          </a:xfrm>
          <a:prstGeom prst="rect">
            <a:avLst/>
          </a:prstGeom>
          <a:solidFill>
            <a:srgbClr val="C0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4496" y="2898648"/>
            <a:ext cx="3136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+10 pp vs. baseline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90779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E"/>
                </a:solidFill>
                <a:latin typeface="Calibri"/>
              </a:rPr>
              <a:t>60 days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6032" y="3566160"/>
            <a:ext cx="11704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6032" y="3566160"/>
            <a:ext cx="73152" cy="9144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822191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Smart Search: live in product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3794760"/>
            <a:ext cx="3246120" cy="38404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54496" y="3813048"/>
            <a:ext cx="3136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Shipped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382219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E"/>
                </a:solidFill>
                <a:latin typeface="Calibri"/>
              </a:rPr>
              <a:t>60 days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6032" y="4480560"/>
            <a:ext cx="1170432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6032" y="4480560"/>
            <a:ext cx="73152" cy="914400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73659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Customer NPS post-AI launch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9632" y="4709160"/>
            <a:ext cx="3246120" cy="384048"/>
          </a:xfrm>
          <a:prstGeom prst="rect">
            <a:avLst/>
          </a:prstGeom>
          <a:solidFill>
            <a:srgbClr val="057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4727448"/>
            <a:ext cx="3136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+8 points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47365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E"/>
                </a:solidFill>
                <a:latin typeface="Calibri"/>
              </a:rPr>
              <a:t>90 days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5394960"/>
            <a:ext cx="1170432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56032" y="5394960"/>
            <a:ext cx="73152" cy="9144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565099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B2A"/>
                </a:solidFill>
                <a:latin typeface="Calibri"/>
              </a:rPr>
              <a:t>Positive AI support tickets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99632" y="5623560"/>
            <a:ext cx="3246120" cy="384048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54496" y="5641848"/>
            <a:ext cx="31363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50+ per month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5650992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56E"/>
                </a:solidFill>
                <a:latin typeface="Calibri"/>
              </a:rPr>
              <a:t>90 days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0" y="137160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0" b="1" i="0">
                <a:solidFill>
                  <a:srgbClr val="1E3048"/>
                </a:solidFill>
                <a:latin typeface="Calibri"/>
              </a:rPr>
              <a:t>&gt;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The window is not closed.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7BB3F0"/>
                </a:solidFill>
                <a:latin typeface="Calibri"/>
              </a:rPr>
              <a:t>Every major competitor now has AI. But none has owned
the narrative of AI that's powerful, affordable, and trusted.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3127248"/>
            <a:ext cx="5029200" cy="36576"/>
          </a:xfrm>
          <a:prstGeom prst="rect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33101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Start this week:</a:t>
            </a:r>
          </a:p>
        </p:txBody>
      </p:sp>
      <p:sp>
        <p:nvSpPr>
          <p:cNvPr id="9" name="Oval 8"/>
          <p:cNvSpPr/>
          <p:nvPr/>
        </p:nvSpPr>
        <p:spPr>
          <a:xfrm>
            <a:off x="384048" y="3767328"/>
            <a:ext cx="182880" cy="182880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712463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Draft CEO email to customers  —  send by Friday</a:t>
            </a:r>
          </a:p>
        </p:txBody>
      </p:sp>
      <p:sp>
        <p:nvSpPr>
          <p:cNvPr id="11" name="Oval 10"/>
          <p:cNvSpPr/>
          <p:nvPr/>
        </p:nvSpPr>
        <p:spPr>
          <a:xfrm>
            <a:off x="384048" y="4389120"/>
            <a:ext cx="182880" cy="182880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334255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Brief sales team with battle card  —  Monday standup</a:t>
            </a:r>
          </a:p>
        </p:txBody>
      </p:sp>
      <p:sp>
        <p:nvSpPr>
          <p:cNvPr id="13" name="Oval 12"/>
          <p:cNvSpPr/>
          <p:nvPr/>
        </p:nvSpPr>
        <p:spPr>
          <a:xfrm>
            <a:off x="384048" y="5010912"/>
            <a:ext cx="182880" cy="182880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956048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Audit and remove 'no AI' messaging  —  this week</a:t>
            </a:r>
          </a:p>
        </p:txBody>
      </p:sp>
      <p:sp>
        <p:nvSpPr>
          <p:cNvPr id="15" name="Oval 14"/>
          <p:cNvSpPr/>
          <p:nvPr/>
        </p:nvSpPr>
        <p:spPr>
          <a:xfrm>
            <a:off x="384048" y="5632704"/>
            <a:ext cx="182880" cy="182880"/>
          </a:xfrm>
          <a:prstGeom prst="ellipse">
            <a:avLst/>
          </a:prstGeom>
          <a:solidFill>
            <a:srgbClr val="2D6A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5577840"/>
            <a:ext cx="7589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Align exec team on pricing model and first feature  —  this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TaskFlow AI  ·  March 2025  ·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12880" y="6537960"/>
            <a:ext cx="502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080B0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